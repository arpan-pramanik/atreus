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(Static) Model</c:v>
                </c:pt>
              </c:strCache>
            </c:strRef>
          </c:tx>
          <c:spPr>
            <a:solidFill>
              <a:srgbClr val="10233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B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Accuracy</c:v>
                  </c:pt>
                  <c:pt idx="1">
                    <c:v>F1-Score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0.78</c:v>
                </c:pt>
                <c:pt idx="1">
                  <c:v>0.74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Adaptive Model</c:v>
                </c:pt>
              </c:strCache>
            </c:strRef>
          </c:tx>
          <c:spPr>
            <a:solidFill>
              <a:srgbClr val="2FE6C9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B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Accuracy</c:v>
                  </c:pt>
                  <c:pt idx="1">
                    <c:v>F1-Score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0.91</c:v>
                </c:pt>
                <c:pt idx="1">
                  <c:v>0.89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1C2B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3E9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CE3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CE3E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7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F7C8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274320"/>
            <a:ext cx="2743200" cy="2743200"/>
          </a:xfrm>
          <a:prstGeom prst="ellipse">
            <a:avLst/>
          </a:prstGeom>
          <a:solidFill>
            <a:srgbClr val="2FE6C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4023360" cy="4023360"/>
          </a:xfrm>
          <a:prstGeom prst="ellipse">
            <a:avLst/>
          </a:prstGeom>
          <a:solidFill>
            <a:srgbClr val="0F7C82">
              <a:alpha val="1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Concept Drift in Streaming Data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 Framework for Dynamic Data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2834640" cy="0"/>
          </a:xfrm>
          <a:prstGeom prst="line">
            <a:avLst/>
          </a:prstGeom>
          <a:noFill/>
          <a:ln w="19050">
            <a:solidFill>
              <a:srgbClr val="0F7C8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617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pPr indent="0" marL="0">
              <a:buNone/>
            </a:pPr>
            <a:r>
              <a:rPr lang="en-US" sz="1400" dirty="0">
                <a:solidFill>
                  <a:srgbClr val="C7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1], [Student Name 2], [Student Name 3]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292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Institution: </a:t>
            </a:r>
            <a:pPr indent="0" marL="0">
              <a:buNone/>
            </a:pPr>
            <a:r>
              <a:rPr lang="en-US" sz="1400" dirty="0">
                <a:solidFill>
                  <a:srgbClr val="C7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 of Computer Science, Institution Name]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01600" dist="38100" dir="5400000">
              <a:srgbClr val="10233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023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E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105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Drift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statistical properties of the target variable change over time in an unforeseen way, so the relationship a model once learned between inputs and outputs silently stops holding.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0233F"/>
          </a:solidFill>
          <a:ln/>
          <a:effectLst>
            <a:outerShdw sx="100000" sy="100000" kx="0" ky="0" algn="bl" rotWithShape="0" blurRad="101600" dist="38100" dir="5400000">
              <a:srgbClr val="10233F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4041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E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ML Fails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48056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static, stationary data distribution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once, then deployed without revision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detect when predictions grow stale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from scratch is slow and costly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508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63640" y="196596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9944" y="2066544"/>
            <a:ext cx="347472" cy="347472"/>
          </a:xfrm>
          <a:prstGeom prst="ellipse">
            <a:avLst/>
          </a:prstGeom>
          <a:solidFill>
            <a:srgbClr val="0F7C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9944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85432" y="19659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concept drift in real time within streaming data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2624328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9944" y="2724912"/>
            <a:ext cx="347472" cy="347472"/>
          </a:xfrm>
          <a:prstGeom prst="ellipse">
            <a:avLst/>
          </a:prstGeom>
          <a:solidFill>
            <a:srgbClr val="0F7C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9944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85432" y="2624328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multiple drift-detection algorithms objectively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282696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9944" y="3383280"/>
            <a:ext cx="347472" cy="347472"/>
          </a:xfrm>
          <a:prstGeom prst="ellipse">
            <a:avLst/>
          </a:prstGeom>
          <a:solidFill>
            <a:srgbClr val="0F7C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9944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85432" y="328269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framework that adapts models selectively, not blindly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3941064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9944" y="4041648"/>
            <a:ext cx="347472" cy="347472"/>
          </a:xfrm>
          <a:prstGeom prst="ellipse">
            <a:avLst/>
          </a:prstGeom>
          <a:solidFill>
            <a:srgbClr val="0F7C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9944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85432" y="394106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trade-offs between accuracy, delay, and cost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599432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9944" y="4700016"/>
            <a:ext cx="347472" cy="347472"/>
          </a:xfrm>
          <a:prstGeom prst="ellipse">
            <a:avLst/>
          </a:prstGeom>
          <a:solidFill>
            <a:srgbClr val="0F7C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9944" y="4700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85432" y="459943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adaptive vs. static models on real datasets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63640" y="5257800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9944" y="5358384"/>
            <a:ext cx="347472" cy="347472"/>
          </a:xfrm>
          <a:prstGeom prst="ellipse">
            <a:avLst/>
          </a:prstGeom>
          <a:solidFill>
            <a:srgbClr val="0F7C8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9944" y="5358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885432" y="5257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reusable guidelines for drift-aware ML pipelines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6052" y="2103120"/>
            <a:ext cx="1572768" cy="1417320"/>
          </a:xfrm>
          <a:prstGeom prst="roundRect">
            <a:avLst>
              <a:gd name="adj" fmla="val 5806"/>
            </a:avLst>
          </a:prstGeom>
          <a:solidFill>
            <a:srgbClr val="10233F"/>
          </a:solidFill>
          <a:ln/>
          <a:effectLst>
            <a:outerShdw sx="100000" sy="100000" kx="0" ky="0" algn="bl" rotWithShape="0" blurRad="76200" dist="25400" dir="5400000">
              <a:srgbClr val="10233F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7492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89204" y="2103120"/>
            <a:ext cx="1426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007108" y="2683764"/>
            <a:ext cx="347472" cy="256032"/>
          </a:xfrm>
          <a:prstGeom prst="rightArrow">
            <a:avLst/>
          </a:prstGeom>
          <a:solidFill>
            <a:srgbClr val="9FB0C0"/>
          </a:solidFill>
          <a:ln/>
        </p:spPr>
      </p:sp>
      <p:sp>
        <p:nvSpPr>
          <p:cNvPr id="8" name="Shape 6"/>
          <p:cNvSpPr/>
          <p:nvPr/>
        </p:nvSpPr>
        <p:spPr>
          <a:xfrm>
            <a:off x="2372868" y="2103120"/>
            <a:ext cx="1572768" cy="1417320"/>
          </a:xfrm>
          <a:prstGeom prst="roundRect">
            <a:avLst>
              <a:gd name="adj" fmla="val 5806"/>
            </a:avLst>
          </a:prstGeom>
          <a:solidFill>
            <a:srgbClr val="0F7C82"/>
          </a:solidFill>
          <a:ln/>
          <a:effectLst>
            <a:outerShdw sx="100000" sy="100000" kx="0" ky="0" algn="bl" rotWithShape="0" blurRad="76200" dist="25400" dir="5400000">
              <a:srgbClr val="10233F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464308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46020" y="2103120"/>
            <a:ext cx="1426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963924" y="2683764"/>
            <a:ext cx="347472" cy="256032"/>
          </a:xfrm>
          <a:prstGeom prst="rightArrow">
            <a:avLst/>
          </a:prstGeom>
          <a:solidFill>
            <a:srgbClr val="9FB0C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29684" y="2103120"/>
            <a:ext cx="1572768" cy="1417320"/>
          </a:xfrm>
          <a:prstGeom prst="roundRect">
            <a:avLst>
              <a:gd name="adj" fmla="val 5806"/>
            </a:avLst>
          </a:prstGeom>
          <a:solidFill>
            <a:srgbClr val="10233F"/>
          </a:solidFill>
          <a:ln/>
          <a:effectLst>
            <a:outerShdw sx="100000" sy="100000" kx="0" ky="0" algn="bl" rotWithShape="0" blurRad="76200" dist="25400" dir="5400000">
              <a:srgbClr val="10233F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421124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02836" y="2103120"/>
            <a:ext cx="1426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20740" y="2683764"/>
            <a:ext cx="347472" cy="256032"/>
          </a:xfrm>
          <a:prstGeom prst="rightArrow">
            <a:avLst/>
          </a:prstGeom>
          <a:solidFill>
            <a:srgbClr val="9FB0C0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500" y="2103120"/>
            <a:ext cx="1572768" cy="1417320"/>
          </a:xfrm>
          <a:prstGeom prst="roundRect">
            <a:avLst>
              <a:gd name="adj" fmla="val 5806"/>
            </a:avLst>
          </a:prstGeom>
          <a:solidFill>
            <a:srgbClr val="0F7C82"/>
          </a:solidFill>
          <a:ln/>
          <a:effectLst>
            <a:outerShdw sx="100000" sy="100000" kx="0" ky="0" algn="bl" rotWithShape="0" blurRad="76200" dist="25400" dir="5400000">
              <a:srgbClr val="10233F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77940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59652" y="2103120"/>
            <a:ext cx="1426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877556" y="2683764"/>
            <a:ext cx="347472" cy="256032"/>
          </a:xfrm>
          <a:prstGeom prst="rightArrow">
            <a:avLst/>
          </a:prstGeom>
          <a:solidFill>
            <a:srgbClr val="9FB0C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43316" y="2103120"/>
            <a:ext cx="1572768" cy="1417320"/>
          </a:xfrm>
          <a:prstGeom prst="roundRect">
            <a:avLst>
              <a:gd name="adj" fmla="val 5806"/>
            </a:avLst>
          </a:prstGeom>
          <a:solidFill>
            <a:srgbClr val="10233F"/>
          </a:solidFill>
          <a:ln/>
          <a:effectLst>
            <a:outerShdw sx="100000" sy="100000" kx="0" ky="0" algn="bl" rotWithShape="0" blurRad="76200" dist="25400" dir="5400000">
              <a:srgbClr val="10233F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334756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16468" y="2103120"/>
            <a:ext cx="1426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Detection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834372" y="2683764"/>
            <a:ext cx="347472" cy="256032"/>
          </a:xfrm>
          <a:prstGeom prst="rightArrow">
            <a:avLst/>
          </a:prstGeom>
          <a:solidFill>
            <a:srgbClr val="9FB0C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00132" y="2103120"/>
            <a:ext cx="1572768" cy="1417320"/>
          </a:xfrm>
          <a:prstGeom prst="roundRect">
            <a:avLst>
              <a:gd name="adj" fmla="val 5806"/>
            </a:avLst>
          </a:prstGeom>
          <a:solidFill>
            <a:srgbClr val="2FE6C9"/>
          </a:solidFill>
          <a:ln/>
          <a:effectLst>
            <a:outerShdw sx="100000" sy="100000" kx="0" ky="0" algn="bl" rotWithShape="0" blurRad="76200" dist="25400" dir="5400000">
              <a:srgbClr val="10233F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291572" y="2176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273284" y="2103120"/>
            <a:ext cx="14264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Adaptation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10986516" y="3657600"/>
            <a:ext cx="0" cy="502920"/>
          </a:xfrm>
          <a:prstGeom prst="line">
            <a:avLst/>
          </a:prstGeom>
          <a:noFill/>
          <a:ln w="19050">
            <a:solidFill>
              <a:srgbClr val="9FB0C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159252" y="4160520"/>
            <a:ext cx="7443216" cy="0"/>
          </a:xfrm>
          <a:prstGeom prst="line">
            <a:avLst/>
          </a:prstGeom>
          <a:noFill/>
          <a:ln w="19050">
            <a:solidFill>
              <a:srgbClr val="9FB0C0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159252" y="3657600"/>
            <a:ext cx="0" cy="502920"/>
          </a:xfrm>
          <a:prstGeom prst="line">
            <a:avLst/>
          </a:prstGeom>
          <a:noFill/>
          <a:ln w="19050">
            <a:solidFill>
              <a:srgbClr val="9FB0C0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3561588" y="4233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loop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8680" y="5074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data is scored by the current model; predictions are continuously monitored so that statistical drift can be detected as soon as it emerges, triggering a selective adaptation step that updates only the affected components of the model rather than retraining it from scratch.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Algorithms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20640" cy="1207008"/>
          </a:xfrm>
          <a:prstGeom prst="roundRect">
            <a:avLst>
              <a:gd name="adj" fmla="val 6061"/>
            </a:avLst>
          </a:prstGeom>
          <a:solidFill>
            <a:srgbClr val="10233F"/>
          </a:solidFill>
          <a:ln/>
          <a:effectLst>
            <a:outerShdw sx="100000" sy="100000" kx="0" ky="0" algn="bl" rotWithShape="0" blurRad="76200" dist="25400" dir="5400000">
              <a:srgbClr val="10233F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E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 ★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0487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8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price stream with well-known recurring drift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82696"/>
            <a:ext cx="5120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0233F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419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1304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 with seasonal &amp; abrupt shifts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690872"/>
            <a:ext cx="51206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0233F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4828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 / Agrawal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2122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generators for controlled, benchmarkable drift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1463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932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F7C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8932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6384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F7C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738360" y="1874520"/>
            <a:ext cx="1691640" cy="548640"/>
          </a:xfrm>
          <a:prstGeom prst="roundRect">
            <a:avLst>
              <a:gd name="adj" fmla="val 50000"/>
            </a:avLst>
          </a:prstGeom>
          <a:solidFill>
            <a:srgbClr val="0F7C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3836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27889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Detection Algorithms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89320" y="3200400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89320" y="32004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ADWIN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89520" y="3200400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89520" y="32004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89320" y="3913632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89320" y="391363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589520" y="3913632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589520" y="39136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Page-Hinkley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989320" y="480060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493776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supply the learning capacity; drift detectors independently watch the error/data stream and decide when — and where — that capacity needs to be refreshed.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Contribution &amp;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1023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E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Selective Adaptation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019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retraining an entire model on every drift signal, only the components affected by the detected shift are updated — preserving stable knowledge while cutting compute cost.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0F7C8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727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0195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selective, drift-triggered adaptation match the accuracy of full retraining while reducing detection delay and computational cost on real-world data streams?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Adaptive Model — Expected Comparison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3520440"/>
          <a:ext cx="67665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62636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targets to be validated experimentally, not measured results.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35240" y="356616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0" y="3712464"/>
            <a:ext cx="182880" cy="182880"/>
          </a:xfrm>
          <a:prstGeom prst="ellipse">
            <a:avLst/>
          </a:prstGeom>
          <a:solidFill>
            <a:srgbClr val="0F7C8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92440" y="35661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635240" y="413308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0" y="4279392"/>
            <a:ext cx="182880" cy="182880"/>
          </a:xfrm>
          <a:prstGeom prst="ellipse">
            <a:avLst/>
          </a:prstGeom>
          <a:solidFill>
            <a:srgbClr val="0F7C8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92440" y="413308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635240" y="4700016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0" y="4846320"/>
            <a:ext cx="182880" cy="182880"/>
          </a:xfrm>
          <a:prstGeom prst="ellipse">
            <a:avLst/>
          </a:prstGeom>
          <a:solidFill>
            <a:srgbClr val="0F7C8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092440" y="470001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Delay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635240" y="5266944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72400" y="5413248"/>
            <a:ext cx="182880" cy="182880"/>
          </a:xfrm>
          <a:prstGeom prst="ellipse">
            <a:avLst/>
          </a:prstGeom>
          <a:solidFill>
            <a:srgbClr val="0F7C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092440" y="52669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Count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635240" y="5833872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0" y="5980176"/>
            <a:ext cx="182880" cy="182880"/>
          </a:xfrm>
          <a:prstGeom prst="ellipse">
            <a:avLst/>
          </a:prstGeom>
          <a:solidFill>
            <a:srgbClr val="0F7C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092440" y="583387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F7C8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937760"/>
            <a:ext cx="3840480" cy="3840480"/>
          </a:xfrm>
          <a:prstGeom prst="ellipse">
            <a:avLst/>
          </a:prstGeom>
          <a:solidFill>
            <a:srgbClr val="2FE6C9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References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E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5577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drift-adaptive pipeline validated on real &amp; synthetic streams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comparison of ADWIN, DDM, EDDM and Page-Hinkley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selective adaptation cuts cost without sacrificing accuracy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decision framework for choosing detectors per use case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guidelines for deploying drift-aware ML in production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E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Resources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196596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6294A"/>
          </a:solidFill>
          <a:ln w="12700">
            <a:solidFill>
              <a:srgbClr val="2A3E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20848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Research Paper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423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[Author(s), Title, Venue, Year]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3264408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6294A"/>
          </a:solidFill>
          <a:ln w="12700">
            <a:solidFill>
              <a:srgbClr val="2A3E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3383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Research Paper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7216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[Author(s), Title, Venue, Year]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4562856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16294A"/>
          </a:solidFill>
          <a:ln w="12700">
            <a:solidFill>
              <a:srgbClr val="2A3E6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46817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 / Dataset Resources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502005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Online Analysis framework &amp; UCI/OpenML stream datasets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Research Team</dc:creator>
  <cp:lastModifiedBy>Research Team</cp:lastModifiedBy>
  <cp:revision>1</cp:revision>
  <dcterms:created xsi:type="dcterms:W3CDTF">2026-08-27T17:02:56Z</dcterms:created>
  <dcterms:modified xsi:type="dcterms:W3CDTF">2026-08-27T17:02:56Z</dcterms:modified>
</cp:coreProperties>
</file>